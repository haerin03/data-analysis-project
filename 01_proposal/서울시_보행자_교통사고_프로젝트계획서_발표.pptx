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embeddedFontLst>
    <p:embeddedFont>
      <p:font typeface="a고딕15" panose="02020600000000000000" pitchFamily="18" charset="-127"/>
      <p:regular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5C0"/>
    <a:srgbClr val="0F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15" autoAdjust="0"/>
    <p:restoredTop sz="94660"/>
  </p:normalViewPr>
  <p:slideViewPr>
    <p:cSldViewPr snapToGrid="0">
      <p:cViewPr varScale="1">
        <p:scale>
          <a:sx n="49" d="100"/>
          <a:sy n="49" d="100"/>
        </p:scale>
        <p:origin x="86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7337-86CA-1A49-0B5B-6B689D52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51423-4353-1281-AF54-04A8D4C5C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3ED12-21CB-DC01-14BA-847E0BEF1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BFC9-C51A-8086-375F-08FB9C7D16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3037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223E707-FFD9-4F57-A4D4-EBA21E34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34A0CEB-0CB2-4B7E-997F-53128D4FB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F8E6B9D-49DC-4337-8112-1C0F59D6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F048036-E343-4C3F-912D-0BD09663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8D8F5FD-066F-49F5-95F8-06C9D95BF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C784465-D5D7-4B13-8F50-9319127A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36B4A58-4B7F-44AB-85EA-81DDD11BB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B485910-2B0A-46BD-ACCD-B378B959DA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3ED6670-630A-4622-A9AE-84828F09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B8108E2-E697-4AD4-9939-4C06B55E0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74A2085-F5A5-4095-B19C-E5B28C77CA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FB233C4-F1D2-4DCE-8221-EA646451E2FB}"/>
              </a:ext>
            </a:extLst>
          </p:cNvPr>
          <p:cNvSpPr>
            <a:spLocks noGrp="1"/>
          </p:cNvSpPr>
          <p:nvPr/>
        </p:nvSpPr>
        <p:spPr>
          <a:xfrm>
            <a:off x="704850" y="876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B8DFE0"/>
                </a:solidFill>
              </a:defRPr>
            </a:defPPr>
          </a:lstStyle>
          <a:p>
            <a:pPr>
              <a:defRPr sz="1125" b="1">
                <a:solidFill>
                  <a:srgbClr val="B8DFE0"/>
                </a:solidFill>
              </a:defRPr>
            </a:pPr>
            <a:r>
              <a:rPr lang="en-US" sz="1125" b="1">
                <a:solidFill>
                  <a:srgbClr val="B8DFE0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Data-Analysis-Project Proposal</a:t>
            </a:r>
            <a:endParaRPr sz="1125" b="1">
              <a:solidFill>
                <a:srgbClr val="B8DFE0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4A16F3-4C95-44E0-BD7B-F1754FE7D2E1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5905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FFFFFF"/>
                </a:solidFill>
              </a:defRPr>
            </a:defPPr>
          </a:lstStyle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교통사고의</a:t>
            </a:r>
          </a:p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시간·공간별 발생 특성 및</a:t>
            </a:r>
          </a:p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피해 수준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3905-DC35-4004-8BDB-51EAA430B783}"/>
              </a:ext>
            </a:extLst>
          </p:cNvPr>
          <p:cNvSpPr>
            <a:spLocks noGrp="1"/>
          </p:cNvSpPr>
          <p:nvPr/>
        </p:nvSpPr>
        <p:spPr>
          <a:xfrm>
            <a:off x="704850" y="32861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D7E7F0"/>
                </a:solidFill>
              </a:defRPr>
            </a:defPPr>
          </a:lstStyle>
          <a:p>
            <a:pPr>
              <a:defRPr sz="1350" b="0">
                <a:solidFill>
                  <a:srgbClr val="D7E7F0"/>
                </a:solidFill>
              </a:defRPr>
            </a:pPr>
            <a:r>
              <a:rPr sz="1350" b="0">
                <a:solidFill>
                  <a:srgbClr val="D7E7F0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2023~2025년 TAAS 데이터를 중심으로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418E63-63E6-4E93-89ED-AC6A7FB13A16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1000125" cy="47625"/>
          </a:xfrm>
          <a:prstGeom prst="rect">
            <a:avLst/>
          </a:prstGeom>
          <a:solidFill>
            <a:srgbClr val="58C4C4"/>
          </a:solidFill>
          <a:ln w="0">
            <a:solidFill>
              <a:srgbClr val="58C4C4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78C6F9-A73A-4DC9-906C-E48EADAE9292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FFFFFF"/>
                </a:solidFill>
              </a:defRPr>
            </a:defPPr>
          </a:lstStyle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산업공학과  |  전해린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10508A-CE37-443F-A98B-F2FE993B019A}"/>
              </a:ext>
            </a:extLst>
          </p:cNvPr>
          <p:cNvSpPr>
            <a:spLocks noGrp="1"/>
          </p:cNvSpPr>
          <p:nvPr/>
        </p:nvSpPr>
        <p:spPr>
          <a:xfrm>
            <a:off x="704850" y="59436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C8D6E2"/>
                </a:solidFill>
              </a:defRPr>
            </a:defPPr>
          </a:lstStyle>
          <a:p>
            <a:pPr>
              <a:defRPr sz="1050" b="0">
                <a:solidFill>
                  <a:srgbClr val="C8D6E2"/>
                </a:solidFill>
              </a:defRPr>
            </a:pPr>
            <a:r>
              <a:rPr lang="en-US" sz="1050" b="0">
                <a:solidFill>
                  <a:srgbClr val="C8D6E2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LLM-Data-Analysis-Study</a:t>
            </a:r>
            <a:endParaRPr sz="1050" b="0">
              <a:solidFill>
                <a:srgbClr val="C8D6E2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647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E7145DEB-300B-49B5-B6A1-C7FCF259C2A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57EFD0-6750-4FE8-A827-057CDC25E57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연구 배경과 문제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479588-0ECF-4554-8081-8B849D191DA9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 건수만으로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의 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지역 안전 수준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비교 위험성</a:t>
            </a:r>
            <a:endParaRPr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0C0AAE-A81A-45C0-A66D-C8A7E188E259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39D00B-D8FC-49A1-925C-B8CEFBDE40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6DCF2D-6EDE-4FB8-BB3C-038BE247E232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43A3A0-5447-4656-9170-A145E5115C8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8B8D"/>
                </a:solidFill>
              </a:defRPr>
            </a:defPPr>
          </a:lstStyle>
          <a:p>
            <a:pPr>
              <a:defRPr sz="1350" b="1">
                <a:solidFill>
                  <a:srgbClr val="0F8B8D"/>
                </a:solidFill>
              </a:defRPr>
            </a:pPr>
            <a:r>
              <a:rPr lang="ko-KR" altLang="en-US" sz="16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배경 현상</a:t>
            </a:r>
            <a:endParaRPr sz="1600" b="1">
              <a:solidFill>
                <a:srgbClr val="0F8B8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1418E7-C8EB-4585-860B-4118822927C6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4619626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1F33"/>
                </a:solidFill>
              </a:defRPr>
            </a:defPPr>
          </a:lstStyle>
          <a:p>
            <a:pPr>
              <a:defRPr sz="1875" b="1">
                <a:solidFill>
                  <a:srgbClr val="0B1F33"/>
                </a:solidFill>
              </a:defRPr>
            </a:pPr>
            <a:r>
              <a:rPr sz="20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보행 중 발생하는 교통사고는</a:t>
            </a:r>
          </a:p>
          <a:p>
            <a:pPr>
              <a:defRPr sz="1875" b="1">
                <a:solidFill>
                  <a:srgbClr val="0B1F33"/>
                </a:solidFill>
              </a:defRPr>
            </a:pPr>
            <a:r>
              <a:rPr sz="20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자치구·시간대·도로 환경에 따라</a:t>
            </a:r>
          </a:p>
          <a:p>
            <a:pPr>
              <a:defRPr sz="1875" b="1">
                <a:solidFill>
                  <a:srgbClr val="0B1F33"/>
                </a:solidFill>
              </a:defRPr>
            </a:pPr>
            <a:r>
              <a:rPr sz="20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발생 양상과 피해 정도가 다를 수 있</a:t>
            </a:r>
            <a:r>
              <a:rPr lang="ko-KR" altLang="en-US" sz="20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음</a:t>
            </a:r>
            <a:endParaRPr sz="2000" b="1">
              <a:solidFill>
                <a:srgbClr val="0B1F33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B1D3F8-9498-4D74-AFC6-58EC45717E23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76200" cy="762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1D8889-33EA-4068-985D-2EA7D6A63C85}"/>
              </a:ext>
            </a:extLst>
          </p:cNvPr>
          <p:cNvSpPr>
            <a:spLocks noGrp="1"/>
          </p:cNvSpPr>
          <p:nvPr/>
        </p:nvSpPr>
        <p:spPr>
          <a:xfrm>
            <a:off x="857253" y="3933825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인구와 단순 사고 건수의 비례 가능성</a:t>
            </a:r>
            <a:endParaRPr sz="1600" b="0">
              <a:solidFill>
                <a:srgbClr val="102A43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AAC9A3-A9DE-40AA-B1B0-709F980F0E95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76200" cy="762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350952-BE14-44EF-A8E6-8F712CF9C8F3}"/>
              </a:ext>
            </a:extLst>
          </p:cNvPr>
          <p:cNvSpPr>
            <a:spLocks noGrp="1"/>
          </p:cNvSpPr>
          <p:nvPr/>
        </p:nvSpPr>
        <p:spPr>
          <a:xfrm>
            <a:off x="857252" y="4419600"/>
            <a:ext cx="47624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지역별 규모를 고려한 지표와 세부 조건 비교 필요</a:t>
            </a:r>
            <a:endParaRPr sz="1600" b="0">
              <a:solidFill>
                <a:srgbClr val="102A43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CC0468-95DB-4B20-96BD-509380ABD5AC}"/>
              </a:ext>
            </a:extLst>
          </p:cNvPr>
          <p:cNvSpPr>
            <a:spLocks noGrp="1"/>
          </p:cNvSpPr>
          <p:nvPr/>
        </p:nvSpPr>
        <p:spPr>
          <a:xfrm>
            <a:off x="6458604" y="2133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8B8D"/>
                </a:solidFill>
              </a:defRPr>
            </a:defPPr>
          </a:lstStyle>
          <a:p>
            <a:pPr>
              <a:defRPr sz="1350" b="1">
                <a:solidFill>
                  <a:srgbClr val="0F8B8D"/>
                </a:solidFill>
              </a:defRPr>
            </a:pPr>
            <a:r>
              <a:rPr sz="16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분석 대상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9F8E63D-23D7-4385-895F-4B68F8D6E582}"/>
              </a:ext>
            </a:extLst>
          </p:cNvPr>
          <p:cNvSpPr>
            <a:spLocks noGrp="1"/>
          </p:cNvSpPr>
          <p:nvPr/>
        </p:nvSpPr>
        <p:spPr>
          <a:xfrm>
            <a:off x="6414589" y="2543175"/>
            <a:ext cx="1666875" cy="17145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A98593-5806-46F9-8102-5F30BCE062FA}"/>
              </a:ext>
            </a:extLst>
          </p:cNvPr>
          <p:cNvSpPr>
            <a:spLocks noGrp="1"/>
          </p:cNvSpPr>
          <p:nvPr/>
        </p:nvSpPr>
        <p:spPr>
          <a:xfrm>
            <a:off x="6414590" y="2543175"/>
            <a:ext cx="66675" cy="171450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C101BA-4718-4519-BADF-B42DA8E5D0C6}"/>
              </a:ext>
            </a:extLst>
          </p:cNvPr>
          <p:cNvSpPr>
            <a:spLocks noGrp="1"/>
          </p:cNvSpPr>
          <p:nvPr/>
        </p:nvSpPr>
        <p:spPr>
          <a:xfrm>
            <a:off x="6643190" y="2733675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지역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ADBDCC-2DE4-419B-9103-2A0EF16C115A}"/>
              </a:ext>
            </a:extLst>
          </p:cNvPr>
          <p:cNvSpPr>
            <a:spLocks noGrp="1"/>
          </p:cNvSpPr>
          <p:nvPr/>
        </p:nvSpPr>
        <p:spPr>
          <a:xfrm>
            <a:off x="6626605" y="3133725"/>
            <a:ext cx="144024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25개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자치구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9033DBD-80BE-479C-A3DE-9A3967976814}"/>
              </a:ext>
            </a:extLst>
          </p:cNvPr>
          <p:cNvSpPr>
            <a:spLocks noGrp="1"/>
          </p:cNvSpPr>
          <p:nvPr/>
        </p:nvSpPr>
        <p:spPr>
          <a:xfrm>
            <a:off x="8209724" y="2543175"/>
            <a:ext cx="1666875" cy="17145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0AF497-8265-4832-9BA0-881A728355EF}"/>
              </a:ext>
            </a:extLst>
          </p:cNvPr>
          <p:cNvSpPr>
            <a:spLocks noGrp="1"/>
          </p:cNvSpPr>
          <p:nvPr/>
        </p:nvSpPr>
        <p:spPr>
          <a:xfrm>
            <a:off x="8209725" y="2543175"/>
            <a:ext cx="66675" cy="17145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F42DA2-69A7-49CA-889F-0B5A39E039AD}"/>
              </a:ext>
            </a:extLst>
          </p:cNvPr>
          <p:cNvSpPr>
            <a:spLocks noGrp="1"/>
          </p:cNvSpPr>
          <p:nvPr/>
        </p:nvSpPr>
        <p:spPr>
          <a:xfrm>
            <a:off x="8438325" y="2733675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시간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ED713B-CFA6-4BC3-9A31-69F1BAF500C2}"/>
              </a:ext>
            </a:extLst>
          </p:cNvPr>
          <p:cNvSpPr>
            <a:spLocks noGrp="1"/>
          </p:cNvSpPr>
          <p:nvPr/>
        </p:nvSpPr>
        <p:spPr>
          <a:xfrm>
            <a:off x="8343073" y="3133725"/>
            <a:ext cx="14001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2023~2025년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요일·시간대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507AE5-F56D-4EE9-ADA8-C2EF4CBDBA2D}"/>
              </a:ext>
            </a:extLst>
          </p:cNvPr>
          <p:cNvSpPr>
            <a:spLocks noGrp="1"/>
          </p:cNvSpPr>
          <p:nvPr/>
        </p:nvSpPr>
        <p:spPr>
          <a:xfrm>
            <a:off x="10004860" y="2514600"/>
            <a:ext cx="1666875" cy="17145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1C4A3C-C35F-4AE8-8331-7A5CDEE32971}"/>
              </a:ext>
            </a:extLst>
          </p:cNvPr>
          <p:cNvSpPr>
            <a:spLocks noGrp="1"/>
          </p:cNvSpPr>
          <p:nvPr/>
        </p:nvSpPr>
        <p:spPr>
          <a:xfrm>
            <a:off x="10004861" y="2514600"/>
            <a:ext cx="66675" cy="1714500"/>
          </a:xfrm>
          <a:prstGeom prst="rect">
            <a:avLst/>
          </a:prstGeom>
          <a:solidFill>
            <a:srgbClr val="E4793B"/>
          </a:solidFill>
          <a:ln w="0">
            <a:solidFill>
              <a:srgbClr val="E4793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EFD0D2-5EDF-46A3-81A6-B4E534733ACA}"/>
              </a:ext>
            </a:extLst>
          </p:cNvPr>
          <p:cNvSpPr>
            <a:spLocks noGrp="1"/>
          </p:cNvSpPr>
          <p:nvPr/>
        </p:nvSpPr>
        <p:spPr>
          <a:xfrm>
            <a:off x="10233461" y="27051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환경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EEAECB-36C2-4913-8DFD-25C3BFBCCE6C}"/>
              </a:ext>
            </a:extLst>
          </p:cNvPr>
          <p:cNvSpPr>
            <a:spLocks noGrp="1"/>
          </p:cNvSpPr>
          <p:nvPr/>
        </p:nvSpPr>
        <p:spPr>
          <a:xfrm>
            <a:off x="10104872" y="3133725"/>
            <a:ext cx="14668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도로형태·기상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가해 차량 유형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E7F15E2-F432-0952-2655-136C2FC4BE60}"/>
              </a:ext>
            </a:extLst>
          </p:cNvPr>
          <p:cNvSpPr>
            <a:spLocks noGrp="1"/>
          </p:cNvSpPr>
          <p:nvPr/>
        </p:nvSpPr>
        <p:spPr>
          <a:xfrm>
            <a:off x="2722182" y="5381625"/>
            <a:ext cx="674763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목적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 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사고가 집중되는 조건을 확인하고 교통안전 점검의 우선순위 검토에 활용</a:t>
            </a:r>
          </a:p>
        </p:txBody>
      </p:sp>
    </p:spTree>
    <p:extLst>
      <p:ext uri="{BB962C8B-B14F-4D97-AF65-F5344CB8AC3E}">
        <p14:creationId xmlns:p14="http://schemas.microsoft.com/office/powerpoint/2010/main" val="53424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D94A9D-D59C-47FA-9203-C89F1BBCDFA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CBE24E-A01B-436F-919A-4B7A4182901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핵심 분석 질문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5B96A3-DD44-49C8-8FEB-76818DA7803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데이터로 직접 확인할 수 있는 네 가지 질문으로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범위 설정</a:t>
            </a:r>
            <a:endParaRPr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4BA1BE-8B8F-4BD1-93A8-0F54518714A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CFAB11-AD89-4E1E-BD3C-959B3DD9C5AD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2BA8DF-8D48-481E-95C5-A3444B882484}"/>
              </a:ext>
            </a:extLst>
          </p:cNvPr>
          <p:cNvSpPr>
            <a:spLocks noGrp="1"/>
          </p:cNvSpPr>
          <p:nvPr/>
        </p:nvSpPr>
        <p:spPr>
          <a:xfrm>
            <a:off x="683829" y="2338387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565C0"/>
                </a:solidFill>
              </a:defRPr>
            </a:defPPr>
          </a:lstStyle>
          <a:p>
            <a:pPr>
              <a:defRPr sz="1875" b="1">
                <a:solidFill>
                  <a:srgbClr val="1565C0"/>
                </a:solidFill>
              </a:defRPr>
            </a:pPr>
            <a:r>
              <a:rPr sz="2400" b="1">
                <a:solidFill>
                  <a:srgbClr val="1565C0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7EB147-CF66-4E36-A154-001C2E452DDE}"/>
              </a:ext>
            </a:extLst>
          </p:cNvPr>
          <p:cNvSpPr>
            <a:spLocks noGrp="1"/>
          </p:cNvSpPr>
          <p:nvPr/>
        </p:nvSpPr>
        <p:spPr>
          <a:xfrm>
            <a:off x="1407729" y="2366962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B1F33"/>
                </a:solidFill>
              </a:defRPr>
            </a:defPPr>
          </a:lstStyle>
          <a:p>
            <a:pPr>
              <a:defRPr sz="1575" b="1">
                <a:solidFill>
                  <a:srgbClr val="0B1F33"/>
                </a:solidFill>
              </a:defRPr>
            </a:pPr>
            <a:r>
              <a:rPr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자치구별 차이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7BBD87-E4F2-4362-BC25-EDD87D545733}"/>
              </a:ext>
            </a:extLst>
          </p:cNvPr>
          <p:cNvSpPr>
            <a:spLocks noGrp="1"/>
          </p:cNvSpPr>
          <p:nvPr/>
        </p:nvSpPr>
        <p:spPr>
          <a:xfrm>
            <a:off x="1407729" y="2776537"/>
            <a:ext cx="4286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자치구별 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보행자 사고 건수와 인구 10만 명당 사고 건수는 어떻게 다른가?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90534-4702-493B-9929-B26DDB1ADC15}"/>
              </a:ext>
            </a:extLst>
          </p:cNvPr>
          <p:cNvSpPr>
            <a:spLocks noGrp="1"/>
          </p:cNvSpPr>
          <p:nvPr/>
        </p:nvSpPr>
        <p:spPr>
          <a:xfrm>
            <a:off x="683829" y="3862387"/>
            <a:ext cx="4762500" cy="9525"/>
          </a:xfrm>
          <a:prstGeom prst="rect">
            <a:avLst/>
          </a:prstGeom>
          <a:solidFill>
            <a:srgbClr val="D6E1E8"/>
          </a:solidFill>
          <a:ln w="0">
            <a:solidFill>
              <a:srgbClr val="D6E1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9CC8A1-F7C9-4950-A3E8-734A2E420D0E}"/>
              </a:ext>
            </a:extLst>
          </p:cNvPr>
          <p:cNvSpPr>
            <a:spLocks noGrp="1"/>
          </p:cNvSpPr>
          <p:nvPr/>
        </p:nvSpPr>
        <p:spPr>
          <a:xfrm>
            <a:off x="6208329" y="2338387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F8B8D"/>
                </a:solidFill>
              </a:defRPr>
            </a:defPPr>
          </a:lstStyle>
          <a:p>
            <a:pPr>
              <a:defRPr sz="1875" b="1">
                <a:solidFill>
                  <a:srgbClr val="0F8B8D"/>
                </a:solidFill>
              </a:defRPr>
            </a:pPr>
            <a:r>
              <a:rPr sz="2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0255F1-2866-4117-A9C6-8CADF9F3DAD7}"/>
              </a:ext>
            </a:extLst>
          </p:cNvPr>
          <p:cNvSpPr>
            <a:spLocks noGrp="1"/>
          </p:cNvSpPr>
          <p:nvPr/>
        </p:nvSpPr>
        <p:spPr>
          <a:xfrm>
            <a:off x="6932229" y="2366962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B1F33"/>
                </a:solidFill>
              </a:defRPr>
            </a:defPPr>
          </a:lstStyle>
          <a:p>
            <a:pPr>
              <a:defRPr sz="1575" b="1">
                <a:solidFill>
                  <a:srgbClr val="0B1F33"/>
                </a:solidFill>
              </a:defRPr>
            </a:pPr>
            <a:r>
              <a:rPr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시간대·요일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C4EF02-4D41-468A-8DB3-7A77F0C2FDE0}"/>
              </a:ext>
            </a:extLst>
          </p:cNvPr>
          <p:cNvSpPr>
            <a:spLocks noGrp="1"/>
          </p:cNvSpPr>
          <p:nvPr/>
        </p:nvSpPr>
        <p:spPr>
          <a:xfrm>
            <a:off x="6932228" y="2776537"/>
            <a:ext cx="504759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사고는 어느 요일·시간대·월·주야 조건에 집중되는가?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B39B96-019C-4F2A-8B9F-38F9285319FB}"/>
              </a:ext>
            </a:extLst>
          </p:cNvPr>
          <p:cNvSpPr>
            <a:spLocks noGrp="1"/>
          </p:cNvSpPr>
          <p:nvPr/>
        </p:nvSpPr>
        <p:spPr>
          <a:xfrm>
            <a:off x="6208329" y="3862387"/>
            <a:ext cx="4762500" cy="9525"/>
          </a:xfrm>
          <a:prstGeom prst="rect">
            <a:avLst/>
          </a:prstGeom>
          <a:solidFill>
            <a:srgbClr val="D6E1E8"/>
          </a:solidFill>
          <a:ln w="0">
            <a:solidFill>
              <a:srgbClr val="D6E1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265858-9088-49E2-B8B5-85E01C67DBC7}"/>
              </a:ext>
            </a:extLst>
          </p:cNvPr>
          <p:cNvSpPr>
            <a:spLocks noGrp="1"/>
          </p:cNvSpPr>
          <p:nvPr/>
        </p:nvSpPr>
        <p:spPr>
          <a:xfrm>
            <a:off x="683829" y="4243387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E4793B"/>
                </a:solidFill>
              </a:defRPr>
            </a:defPPr>
          </a:lstStyle>
          <a:p>
            <a:pPr>
              <a:defRPr sz="1875" b="1">
                <a:solidFill>
                  <a:srgbClr val="E4793B"/>
                </a:solidFill>
              </a:defRPr>
            </a:pPr>
            <a:r>
              <a:rPr sz="2400" b="1">
                <a:solidFill>
                  <a:srgbClr val="E4793B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D4DD0D-FAF8-4D1D-8152-673F8294B0B7}"/>
              </a:ext>
            </a:extLst>
          </p:cNvPr>
          <p:cNvSpPr>
            <a:spLocks noGrp="1"/>
          </p:cNvSpPr>
          <p:nvPr/>
        </p:nvSpPr>
        <p:spPr>
          <a:xfrm>
            <a:off x="1407729" y="4271962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B1F33"/>
                </a:solidFill>
              </a:defRPr>
            </a:defPPr>
          </a:lstStyle>
          <a:p>
            <a:pPr>
              <a:defRPr sz="1575" b="1">
                <a:solidFill>
                  <a:srgbClr val="0B1F33"/>
                </a:solidFill>
              </a:defRPr>
            </a:pPr>
            <a:r>
              <a:rPr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피해 수준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6273DB-4901-43CF-8102-012849CD504E}"/>
              </a:ext>
            </a:extLst>
          </p:cNvPr>
          <p:cNvSpPr>
            <a:spLocks noGrp="1"/>
          </p:cNvSpPr>
          <p:nvPr/>
        </p:nvSpPr>
        <p:spPr>
          <a:xfrm>
            <a:off x="1407729" y="4681537"/>
            <a:ext cx="4286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사망 또는 중상 발생 여부는 도로·기상·차량 유형과 어떤 관련 양상을 보이는가?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E5DEF5-3DD0-40AB-9B3D-FD9C55CDAB5E}"/>
              </a:ext>
            </a:extLst>
          </p:cNvPr>
          <p:cNvSpPr>
            <a:spLocks noGrp="1"/>
          </p:cNvSpPr>
          <p:nvPr/>
        </p:nvSpPr>
        <p:spPr>
          <a:xfrm>
            <a:off x="6208329" y="4243387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1F33"/>
                </a:solidFill>
              </a:defRPr>
            </a:defPPr>
          </a:lstStyle>
          <a:p>
            <a:pPr>
              <a:defRPr sz="1875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184E29-08BF-4020-B0AD-6176EAB78DEA}"/>
              </a:ext>
            </a:extLst>
          </p:cNvPr>
          <p:cNvSpPr>
            <a:spLocks noGrp="1"/>
          </p:cNvSpPr>
          <p:nvPr/>
        </p:nvSpPr>
        <p:spPr>
          <a:xfrm>
            <a:off x="6932229" y="4271962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B1F33"/>
                </a:solidFill>
              </a:defRPr>
            </a:defPPr>
          </a:lstStyle>
          <a:p>
            <a:pPr>
              <a:defRPr sz="1575" b="1">
                <a:solidFill>
                  <a:srgbClr val="0B1F33"/>
                </a:solidFill>
              </a:defRPr>
            </a:pPr>
            <a:r>
              <a:rPr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 집중지점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3F5B7D-3F37-4627-9B0B-B72C8489CE54}"/>
              </a:ext>
            </a:extLst>
          </p:cNvPr>
          <p:cNvSpPr>
            <a:spLocks noGrp="1"/>
          </p:cNvSpPr>
          <p:nvPr/>
        </p:nvSpPr>
        <p:spPr>
          <a:xfrm>
            <a:off x="6932229" y="4681537"/>
            <a:ext cx="4286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반복적으로 사고가 집중되는 지점과 사고 유형은 무엇인가?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566BCA-BB15-F3B1-1005-35F1A2C265C9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505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387192-5DA0-4B32-9E01-9D6A9F2ADEB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94F12A-22BD-424B-BC61-E14CB5B842B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데이터 확보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48F9A-62E7-4023-A0DC-FFB26A7BFA3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공식 다운로드 자료를 중심으로 사고 데이터와 인구·교통여건 결합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FC0541-7549-4738-9305-6EF8B63EEF3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6B035B-D31C-4751-B833-4F5B1DA67749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A6A3904-5B36-4DCA-9229-6C1333804F06}"/>
              </a:ext>
            </a:extLst>
          </p:cNvPr>
          <p:cNvSpPr>
            <a:spLocks noGrp="1"/>
          </p:cNvSpPr>
          <p:nvPr/>
        </p:nvSpPr>
        <p:spPr>
          <a:xfrm>
            <a:off x="591207" y="2693723"/>
            <a:ext cx="57334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71C633-5331-4CBA-ACAA-BEDFBD87FFD4}"/>
              </a:ext>
            </a:extLst>
          </p:cNvPr>
          <p:cNvSpPr>
            <a:spLocks noGrp="1"/>
          </p:cNvSpPr>
          <p:nvPr/>
        </p:nvSpPr>
        <p:spPr>
          <a:xfrm>
            <a:off x="591207" y="2693723"/>
            <a:ext cx="66675" cy="247650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77946C-90FA-4B25-8629-D8401E728E81}"/>
              </a:ext>
            </a:extLst>
          </p:cNvPr>
          <p:cNvSpPr>
            <a:spLocks noGrp="1"/>
          </p:cNvSpPr>
          <p:nvPr/>
        </p:nvSpPr>
        <p:spPr>
          <a:xfrm>
            <a:off x="819807" y="2884223"/>
            <a:ext cx="4791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sz="16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개별 보행자 교통사고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6682E7-813F-44D7-88A6-4A0EBCE30756}"/>
              </a:ext>
            </a:extLst>
          </p:cNvPr>
          <p:cNvSpPr>
            <a:spLocks noGrp="1"/>
          </p:cNvSpPr>
          <p:nvPr/>
        </p:nvSpPr>
        <p:spPr>
          <a:xfrm>
            <a:off x="819807" y="3189023"/>
            <a:ext cx="55048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출처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한국도로교통공단 TAAS GIS 분석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기간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2023.01.01~2025.12.31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수집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서울특별시·보행자 관련 사고 조건 검색 후 엑셀 다운로드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변수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사고일시, 위치, 사고유형, 주야, 기상, 도로형태, 가해차종, 사상자 수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920C93C-7F17-429A-B818-28329468612C}"/>
              </a:ext>
            </a:extLst>
          </p:cNvPr>
          <p:cNvSpPr>
            <a:spLocks noGrp="1"/>
          </p:cNvSpPr>
          <p:nvPr/>
        </p:nvSpPr>
        <p:spPr>
          <a:xfrm>
            <a:off x="6452644" y="2708367"/>
            <a:ext cx="5191126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19F1CB-2808-4B03-A38C-52E1E1828B7F}"/>
              </a:ext>
            </a:extLst>
          </p:cNvPr>
          <p:cNvSpPr>
            <a:spLocks noGrp="1"/>
          </p:cNvSpPr>
          <p:nvPr/>
        </p:nvSpPr>
        <p:spPr>
          <a:xfrm>
            <a:off x="6452645" y="2708367"/>
            <a:ext cx="66675" cy="24765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99D096-9E64-47CF-BE0C-1486D2797F83}"/>
              </a:ext>
            </a:extLst>
          </p:cNvPr>
          <p:cNvSpPr>
            <a:spLocks noGrp="1"/>
          </p:cNvSpPr>
          <p:nvPr/>
        </p:nvSpPr>
        <p:spPr>
          <a:xfrm>
            <a:off x="6681245" y="2898867"/>
            <a:ext cx="4791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sz="1600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자치구별 인구 및 교통여건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961EEA-1565-4315-B227-014E110CA9A6}"/>
              </a:ext>
            </a:extLst>
          </p:cNvPr>
          <p:cNvSpPr>
            <a:spLocks noGrp="1"/>
          </p:cNvSpPr>
          <p:nvPr/>
        </p:nvSpPr>
        <p:spPr>
          <a:xfrm>
            <a:off x="6681245" y="3298917"/>
            <a:ext cx="4962525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출처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TAAS 교통여건 통계, 행정안전부 주민등록인구통계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단위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25개 자치구 × 3개 연도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결합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연도 + 자치구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활용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 인구 10만 명당 사고 건수와 지역 맥락 해석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FA2787-8762-7DD7-5141-D2B6D60B33E6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A0A9DE-D9E6-F811-2180-FA04CFEDBB1A}"/>
              </a:ext>
            </a:extLst>
          </p:cNvPr>
          <p:cNvSpPr txBox="1"/>
          <p:nvPr/>
        </p:nvSpPr>
        <p:spPr>
          <a:xfrm>
            <a:off x="591207" y="2265098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1565C0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핵심 데이터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FD2DB2-6CAC-1AAE-0872-B46598B38707}"/>
              </a:ext>
            </a:extLst>
          </p:cNvPr>
          <p:cNvSpPr txBox="1"/>
          <p:nvPr/>
        </p:nvSpPr>
        <p:spPr>
          <a:xfrm>
            <a:off x="6452645" y="2278683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보조 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2CE9044-D66B-2F74-E271-386C6E913682}"/>
              </a:ext>
            </a:extLst>
          </p:cNvPr>
          <p:cNvSpPr>
            <a:spLocks noGrp="1"/>
          </p:cNvSpPr>
          <p:nvPr/>
        </p:nvSpPr>
        <p:spPr>
          <a:xfrm>
            <a:off x="2227866" y="5680167"/>
            <a:ext cx="7736268" cy="2838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원본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·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정제 파일을 분리 저장하고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검색 조건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·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다운로드 일시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·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출처 </a:t>
            </a:r>
            <a:r>
              <a:rPr lang="en-US" altLang="ko-KR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URL</a:t>
            </a:r>
            <a:r>
              <a:rPr lang="ko-KR" altLang="en-US"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을 함께 기록</a:t>
            </a:r>
          </a:p>
        </p:txBody>
      </p:sp>
    </p:spTree>
    <p:extLst>
      <p:ext uri="{BB962C8B-B14F-4D97-AF65-F5344CB8AC3E}">
        <p14:creationId xmlns:p14="http://schemas.microsoft.com/office/powerpoint/2010/main" val="152768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5A4E35-BF27-4111-A554-610EFB984A0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13ECC4-B2E9-49D2-AAD0-03FB507CA0E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예상 데이터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E49ED2-00AF-438A-A9BB-731D82942A8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 단위 원자료와 자치구·연도 단위 맥락 자료를 분리해 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49DB2D-9458-4334-88B9-792107D99D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6C961-038D-4A1F-8943-E1521F781E9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5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3DCF8C-F45E-4354-BD2E-70B8F55E2B03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447675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EFA3D6-4985-4072-AB9B-6E9AA1E5B7E3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66675" cy="276225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5BE5A8-67A1-4A40-8D4D-730CBCF8935D}"/>
              </a:ext>
            </a:extLst>
          </p:cNvPr>
          <p:cNvSpPr>
            <a:spLocks noGrp="1"/>
          </p:cNvSpPr>
          <p:nvPr/>
        </p:nvSpPr>
        <p:spPr>
          <a:xfrm>
            <a:off x="914400" y="2371725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sz="1600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accidents  |  사고 1건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E6AC85-D8FC-42F4-A0FA-746EC960D9E7}"/>
              </a:ext>
            </a:extLst>
          </p:cNvPr>
          <p:cNvSpPr>
            <a:spLocks noGrp="1"/>
          </p:cNvSpPr>
          <p:nvPr/>
        </p:nvSpPr>
        <p:spPr>
          <a:xfrm>
            <a:off x="885825" y="2657475"/>
            <a:ext cx="40767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accident_id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occurred_at, 요일, 시간대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district, 위치 또는 좌표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사고유형, 주야, 기상, 노면, 도로형태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가해 차량 유형, 법규위반</a:t>
            </a:r>
          </a:p>
          <a:p>
            <a:pPr>
              <a:lnSpc>
                <a:spcPct val="150000"/>
              </a:lnSpc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사망·중상·경상·부상신고자 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DAEDB8-D1D6-4B51-8AFD-0E9F5354323B}"/>
              </a:ext>
            </a:extLst>
          </p:cNvPr>
          <p:cNvSpPr>
            <a:spLocks noGrp="1"/>
          </p:cNvSpPr>
          <p:nvPr/>
        </p:nvSpPr>
        <p:spPr>
          <a:xfrm>
            <a:off x="5448300" y="32004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F8B8D"/>
                </a:solidFill>
              </a:defRPr>
            </a:defPPr>
          </a:lstStyle>
          <a:p>
            <a:pPr>
              <a:defRPr sz="1275" b="1">
                <a:solidFill>
                  <a:srgbClr val="0F8B8D"/>
                </a:solidFill>
              </a:defRPr>
            </a:pPr>
            <a:r>
              <a:rPr sz="16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연도 + 자치구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4B16F2-D045-468C-AFE8-157572369563}"/>
              </a:ext>
            </a:extLst>
          </p:cNvPr>
          <p:cNvSpPr>
            <a:spLocks noGrp="1"/>
          </p:cNvSpPr>
          <p:nvPr/>
        </p:nvSpPr>
        <p:spPr>
          <a:xfrm>
            <a:off x="5429250" y="3571875"/>
            <a:ext cx="13144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DC1A7AF-C0BB-41D2-A543-ADEB31003419}"/>
              </a:ext>
            </a:extLst>
          </p:cNvPr>
          <p:cNvSpPr>
            <a:spLocks noGrp="1"/>
          </p:cNvSpPr>
          <p:nvPr/>
        </p:nvSpPr>
        <p:spPr>
          <a:xfrm>
            <a:off x="7029450" y="2238375"/>
            <a:ext cx="447675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8DDAD4-47C6-437B-B48D-F0FC228C28BE}"/>
              </a:ext>
            </a:extLst>
          </p:cNvPr>
          <p:cNvSpPr>
            <a:spLocks noGrp="1"/>
          </p:cNvSpPr>
          <p:nvPr/>
        </p:nvSpPr>
        <p:spPr>
          <a:xfrm>
            <a:off x="7029450" y="2238375"/>
            <a:ext cx="66675" cy="276225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4FB195-D34D-4F47-BD42-716357FDAA72}"/>
              </a:ext>
            </a:extLst>
          </p:cNvPr>
          <p:cNvSpPr>
            <a:spLocks noGrp="1"/>
          </p:cNvSpPr>
          <p:nvPr/>
        </p:nvSpPr>
        <p:spPr>
          <a:xfrm>
            <a:off x="7258050" y="2371725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district_context  |  자치구·연도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756620-945D-4551-AF76-830EAF4D1064}"/>
              </a:ext>
            </a:extLst>
          </p:cNvPr>
          <p:cNvSpPr>
            <a:spLocks noGrp="1"/>
          </p:cNvSpPr>
          <p:nvPr/>
        </p:nvSpPr>
        <p:spPr>
          <a:xfrm>
            <a:off x="7258050" y="2828925"/>
            <a:ext cx="40767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year, district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population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registered_vehicles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road_length</a:t>
            </a:r>
          </a:p>
          <a:p>
            <a:endParaRPr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산출 지표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인구 10만 명당 사고 건수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• 시간·환경별 사고 및 피해 수준 비율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F47B00-558C-410E-A01B-F53118D0DF10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중복·결측·지역명 표준화를 먼저 점검한 뒤 분석용 파생변수를 생성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DCC5BA-F8B8-9E28-F877-639A77DF45DF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518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5AB0FC-3048-482E-B33D-51D8B91BEBF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2F7B15-68F6-4107-AD94-05B9C7101DC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분석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5348DF-A216-443E-9AC6-7E348237F6F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EDA를 중심으로 비교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+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표본 조건이 충족될 때만 선택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807C3C-113F-4519-8A46-533D5904531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3CD5EB-5604-45EC-946E-0A4F3549EBE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6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44555D-099C-481E-8D54-ED2D0BB011D1}"/>
              </a:ext>
            </a:extLst>
          </p:cNvPr>
          <p:cNvSpPr>
            <a:spLocks noGrp="1"/>
          </p:cNvSpPr>
          <p:nvPr/>
        </p:nvSpPr>
        <p:spPr>
          <a:xfrm>
            <a:off x="696967" y="2619375"/>
            <a:ext cx="18288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935AA7-2D95-4E42-9D0F-13803ECA3BEC}"/>
              </a:ext>
            </a:extLst>
          </p:cNvPr>
          <p:cNvSpPr>
            <a:spLocks noGrp="1"/>
          </p:cNvSpPr>
          <p:nvPr/>
        </p:nvSpPr>
        <p:spPr>
          <a:xfrm>
            <a:off x="906517" y="28289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8B8D"/>
                </a:solidFill>
              </a:defRPr>
            </a:defPPr>
          </a:lstStyle>
          <a:p>
            <a:pPr>
              <a:defRPr sz="1125" b="1">
                <a:solidFill>
                  <a:srgbClr val="0F8B8D"/>
                </a:solidFill>
              </a:defRPr>
            </a:pPr>
            <a:r>
              <a:rPr sz="1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11C71E-0E59-4B4F-A5EF-26B5DD45639D}"/>
              </a:ext>
            </a:extLst>
          </p:cNvPr>
          <p:cNvSpPr>
            <a:spLocks noGrp="1"/>
          </p:cNvSpPr>
          <p:nvPr/>
        </p:nvSpPr>
        <p:spPr>
          <a:xfrm>
            <a:off x="906517" y="31908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전처리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6F13A4-E6E2-48B8-80C1-C396430B72CE}"/>
              </a:ext>
            </a:extLst>
          </p:cNvPr>
          <p:cNvSpPr>
            <a:spLocks noGrp="1"/>
          </p:cNvSpPr>
          <p:nvPr/>
        </p:nvSpPr>
        <p:spPr>
          <a:xfrm>
            <a:off x="887467" y="3521623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형식 통일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중복·결측 점검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971105-02BC-47C9-82E0-E381A01D0FA8}"/>
              </a:ext>
            </a:extLst>
          </p:cNvPr>
          <p:cNvSpPr>
            <a:spLocks noGrp="1"/>
          </p:cNvSpPr>
          <p:nvPr/>
        </p:nvSpPr>
        <p:spPr>
          <a:xfrm>
            <a:off x="2601967" y="3238500"/>
            <a:ext cx="24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0F8B8D"/>
                </a:solidFill>
              </a:defRPr>
            </a:defPPr>
          </a:lstStyle>
          <a:p>
            <a:pPr>
              <a:defRPr sz="2250" b="1">
                <a:solidFill>
                  <a:srgbClr val="0F8B8D"/>
                </a:solidFill>
              </a:defRPr>
            </a:pPr>
            <a:r>
              <a:rPr sz="28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›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071C6B2-3290-4208-AF66-FD2096928B1A}"/>
              </a:ext>
            </a:extLst>
          </p:cNvPr>
          <p:cNvSpPr>
            <a:spLocks noGrp="1"/>
          </p:cNvSpPr>
          <p:nvPr/>
        </p:nvSpPr>
        <p:spPr>
          <a:xfrm>
            <a:off x="2906767" y="2619375"/>
            <a:ext cx="18288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CD1195-FBB5-46A7-9B40-C9ABFE700BBA}"/>
              </a:ext>
            </a:extLst>
          </p:cNvPr>
          <p:cNvSpPr>
            <a:spLocks noGrp="1"/>
          </p:cNvSpPr>
          <p:nvPr/>
        </p:nvSpPr>
        <p:spPr>
          <a:xfrm>
            <a:off x="3116317" y="28289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8B8D"/>
                </a:solidFill>
              </a:defRPr>
            </a:defPPr>
          </a:lstStyle>
          <a:p>
            <a:pPr>
              <a:defRPr sz="1125" b="1">
                <a:solidFill>
                  <a:srgbClr val="0F8B8D"/>
                </a:solidFill>
              </a:defRPr>
            </a:pPr>
            <a:r>
              <a:rPr sz="1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B61FBC-B8A7-4774-B8C1-EF7410FEB01F}"/>
              </a:ext>
            </a:extLst>
          </p:cNvPr>
          <p:cNvSpPr>
            <a:spLocks noGrp="1"/>
          </p:cNvSpPr>
          <p:nvPr/>
        </p:nvSpPr>
        <p:spPr>
          <a:xfrm>
            <a:off x="3116317" y="31908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lang="ko-KR" altLang="en-US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기술 통계</a:t>
            </a:r>
            <a:endParaRPr b="1">
              <a:solidFill>
                <a:srgbClr val="0B1F33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BA760E-539E-4700-A1B4-BAA198451D84}"/>
              </a:ext>
            </a:extLst>
          </p:cNvPr>
          <p:cNvSpPr>
            <a:spLocks noGrp="1"/>
          </p:cNvSpPr>
          <p:nvPr/>
        </p:nvSpPr>
        <p:spPr>
          <a:xfrm>
            <a:off x="3116317" y="3521623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연도·자치구별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 규모 비교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4BA262-0D6E-4FBC-B5A7-8CE058B0FF61}"/>
              </a:ext>
            </a:extLst>
          </p:cNvPr>
          <p:cNvSpPr>
            <a:spLocks noGrp="1"/>
          </p:cNvSpPr>
          <p:nvPr/>
        </p:nvSpPr>
        <p:spPr>
          <a:xfrm>
            <a:off x="4811767" y="3238500"/>
            <a:ext cx="24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0F8B8D"/>
                </a:solidFill>
              </a:defRPr>
            </a:defPPr>
          </a:lstStyle>
          <a:p>
            <a:pPr>
              <a:defRPr sz="2250" b="1">
                <a:solidFill>
                  <a:srgbClr val="0F8B8D"/>
                </a:solidFill>
              </a:defRPr>
            </a:pPr>
            <a:r>
              <a:rPr sz="28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5370694-2F46-46BE-9E3B-F6357DB37FCA}"/>
              </a:ext>
            </a:extLst>
          </p:cNvPr>
          <p:cNvSpPr>
            <a:spLocks noGrp="1"/>
          </p:cNvSpPr>
          <p:nvPr/>
        </p:nvSpPr>
        <p:spPr>
          <a:xfrm>
            <a:off x="5116567" y="2619375"/>
            <a:ext cx="18288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AD3C55-C4BD-4295-A477-3879D3A6D523}"/>
              </a:ext>
            </a:extLst>
          </p:cNvPr>
          <p:cNvSpPr>
            <a:spLocks noGrp="1"/>
          </p:cNvSpPr>
          <p:nvPr/>
        </p:nvSpPr>
        <p:spPr>
          <a:xfrm>
            <a:off x="5326117" y="28289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8B8D"/>
                </a:solidFill>
              </a:defRPr>
            </a:defPPr>
          </a:lstStyle>
          <a:p>
            <a:pPr>
              <a:defRPr sz="1125" b="1">
                <a:solidFill>
                  <a:srgbClr val="0F8B8D"/>
                </a:solidFill>
              </a:defRPr>
            </a:pPr>
            <a:r>
              <a:rPr sz="1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55BA99-B293-4549-B398-CD59D2E1BCAB}"/>
              </a:ext>
            </a:extLst>
          </p:cNvPr>
          <p:cNvSpPr>
            <a:spLocks noGrp="1"/>
          </p:cNvSpPr>
          <p:nvPr/>
        </p:nvSpPr>
        <p:spPr>
          <a:xfrm>
            <a:off x="5326117" y="31908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시간·환경 비교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67E04C-A9C1-42EB-82E5-B234730CFE70}"/>
              </a:ext>
            </a:extLst>
          </p:cNvPr>
          <p:cNvSpPr>
            <a:spLocks noGrp="1"/>
          </p:cNvSpPr>
          <p:nvPr/>
        </p:nvSpPr>
        <p:spPr>
          <a:xfrm>
            <a:off x="5326117" y="3600450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요일·시간대·</a:t>
            </a:r>
            <a:endParaRPr lang="en-US"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도로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</a:t>
            </a: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조건별 분포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B219FC-CE8E-4FB7-B6BA-729E9689FD2E}"/>
              </a:ext>
            </a:extLst>
          </p:cNvPr>
          <p:cNvSpPr>
            <a:spLocks noGrp="1"/>
          </p:cNvSpPr>
          <p:nvPr/>
        </p:nvSpPr>
        <p:spPr>
          <a:xfrm>
            <a:off x="7021567" y="3238500"/>
            <a:ext cx="24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0F8B8D"/>
                </a:solidFill>
              </a:defRPr>
            </a:defPPr>
          </a:lstStyle>
          <a:p>
            <a:pPr>
              <a:defRPr sz="2250" b="1">
                <a:solidFill>
                  <a:srgbClr val="0F8B8D"/>
                </a:solidFill>
              </a:defRPr>
            </a:pPr>
            <a:r>
              <a:rPr sz="28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›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6EC3560-6018-4A5D-9D35-4459C2D62D9E}"/>
              </a:ext>
            </a:extLst>
          </p:cNvPr>
          <p:cNvSpPr>
            <a:spLocks noGrp="1"/>
          </p:cNvSpPr>
          <p:nvPr/>
        </p:nvSpPr>
        <p:spPr>
          <a:xfrm>
            <a:off x="7326367" y="2619375"/>
            <a:ext cx="18288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73E479E-F482-45D1-BF83-D521B767B776}"/>
              </a:ext>
            </a:extLst>
          </p:cNvPr>
          <p:cNvSpPr>
            <a:spLocks noGrp="1"/>
          </p:cNvSpPr>
          <p:nvPr/>
        </p:nvSpPr>
        <p:spPr>
          <a:xfrm>
            <a:off x="7535917" y="28289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8B8D"/>
                </a:solidFill>
              </a:defRPr>
            </a:defPPr>
          </a:lstStyle>
          <a:p>
            <a:pPr>
              <a:defRPr sz="1125" b="1">
                <a:solidFill>
                  <a:srgbClr val="0F8B8D"/>
                </a:solidFill>
              </a:defRPr>
            </a:pPr>
            <a:r>
              <a:rPr sz="1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34EAEB-749A-4E61-AB7C-EB8F1A63A7F8}"/>
              </a:ext>
            </a:extLst>
          </p:cNvPr>
          <p:cNvSpPr>
            <a:spLocks noGrp="1"/>
          </p:cNvSpPr>
          <p:nvPr/>
        </p:nvSpPr>
        <p:spPr>
          <a:xfrm>
            <a:off x="7535917" y="31908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공간 탐색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385CBF1-C455-4B26-BFB1-3A20AC8868F7}"/>
              </a:ext>
            </a:extLst>
          </p:cNvPr>
          <p:cNvSpPr>
            <a:spLocks noGrp="1"/>
          </p:cNvSpPr>
          <p:nvPr/>
        </p:nvSpPr>
        <p:spPr>
          <a:xfrm>
            <a:off x="7478767" y="3600450"/>
            <a:ext cx="1409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좌표 기반 지도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사고 집중지점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1CB997-D2B8-45F3-8ADF-3B9FAA4BA02A}"/>
              </a:ext>
            </a:extLst>
          </p:cNvPr>
          <p:cNvSpPr>
            <a:spLocks noGrp="1"/>
          </p:cNvSpPr>
          <p:nvPr/>
        </p:nvSpPr>
        <p:spPr>
          <a:xfrm>
            <a:off x="9231367" y="3238500"/>
            <a:ext cx="247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0F8B8D"/>
                </a:solidFill>
              </a:defRPr>
            </a:defPPr>
          </a:lstStyle>
          <a:p>
            <a:pPr>
              <a:defRPr sz="2250" b="1">
                <a:solidFill>
                  <a:srgbClr val="0F8B8D"/>
                </a:solidFill>
              </a:defRPr>
            </a:pPr>
            <a:r>
              <a:rPr sz="28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›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F656D56-EC78-4DAF-BC85-3D02146F1473}"/>
              </a:ext>
            </a:extLst>
          </p:cNvPr>
          <p:cNvSpPr>
            <a:spLocks noGrp="1"/>
          </p:cNvSpPr>
          <p:nvPr/>
        </p:nvSpPr>
        <p:spPr>
          <a:xfrm>
            <a:off x="9536167" y="2619375"/>
            <a:ext cx="18288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71EB73-AA21-4A68-815C-FE01E69B628B}"/>
              </a:ext>
            </a:extLst>
          </p:cNvPr>
          <p:cNvSpPr>
            <a:spLocks noGrp="1"/>
          </p:cNvSpPr>
          <p:nvPr/>
        </p:nvSpPr>
        <p:spPr>
          <a:xfrm>
            <a:off x="9745717" y="28289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F8B8D"/>
                </a:solidFill>
              </a:defRPr>
            </a:defPPr>
          </a:lstStyle>
          <a:p>
            <a:pPr>
              <a:defRPr sz="1125" b="1">
                <a:solidFill>
                  <a:srgbClr val="0F8B8D"/>
                </a:solidFill>
              </a:defRPr>
            </a:pPr>
            <a:r>
              <a:rPr sz="14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05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33EE8AC-CF09-4619-AF22-9C91AF996FB4}"/>
              </a:ext>
            </a:extLst>
          </p:cNvPr>
          <p:cNvSpPr>
            <a:spLocks noGrp="1"/>
          </p:cNvSpPr>
          <p:nvPr/>
        </p:nvSpPr>
        <p:spPr>
          <a:xfrm>
            <a:off x="9745717" y="31908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B1F33"/>
                </a:solidFill>
              </a:defRPr>
            </a:defPPr>
          </a:lstStyle>
          <a:p>
            <a:pPr>
              <a:defRPr sz="1500" b="1">
                <a:solidFill>
                  <a:srgbClr val="0B1F33"/>
                </a:solidFill>
              </a:defRPr>
            </a:pPr>
            <a:r>
              <a:rPr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선택 분석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C835D0-EF10-40A2-8397-ACE625B45D69}"/>
              </a:ext>
            </a:extLst>
          </p:cNvPr>
          <p:cNvSpPr>
            <a:spLocks noGrp="1"/>
          </p:cNvSpPr>
          <p:nvPr/>
        </p:nvSpPr>
        <p:spPr>
          <a:xfrm>
            <a:off x="9659992" y="3600450"/>
            <a:ext cx="1581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피해 수준 연관성</a:t>
            </a:r>
          </a:p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로지스틱 회귀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5443FEB-10A0-CF0E-7D27-FFBB9C23654F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1BDC8B-5A55-C9D0-C653-B7B668556F28}"/>
              </a:ext>
            </a:extLst>
          </p:cNvPr>
          <p:cNvSpPr>
            <a:spLocks noGrp="1"/>
          </p:cNvSpPr>
          <p:nvPr/>
        </p:nvSpPr>
        <p:spPr>
          <a:xfrm>
            <a:off x="696967" y="52197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B7A"/>
                </a:solidFill>
              </a:defRPr>
            </a:defPPr>
          </a:lstStyle>
          <a:p>
            <a:pPr>
              <a:defRPr sz="1275" b="0">
                <a:solidFill>
                  <a:srgbClr val="526B7A"/>
                </a:solidFill>
              </a:defRPr>
            </a:pP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핵심 원칙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: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결과는 연관성으로 해석하며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특정 요인이 사고를 발생시킨다고 단정하지 않는다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230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AF8AC2-2368-4602-9768-D65EB0D29FA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8B8D"/>
                </a:solidFill>
              </a:defRPr>
            </a:defPPr>
          </a:lstStyle>
          <a:p>
            <a:pPr>
              <a:defRPr sz="900" b="1">
                <a:solidFill>
                  <a:srgbClr val="0F8B8D"/>
                </a:solidFill>
              </a:defRPr>
            </a:pPr>
            <a:r>
              <a:rPr sz="105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07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7CC9EA-D883-4B27-BEAC-F3DB9611E6C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B1F33"/>
                </a:solidFill>
              </a:defRPr>
            </a:defPPr>
          </a:lstStyle>
          <a:p>
            <a:pPr>
              <a:defRPr sz="2400" b="1">
                <a:solidFill>
                  <a:srgbClr val="0B1F33"/>
                </a:solidFill>
              </a:defRPr>
            </a:pPr>
            <a:r>
              <a:rPr sz="3200" b="1">
                <a:solidFill>
                  <a:srgbClr val="0B1F3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검증 계획과 해석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3C12DD-CA9B-40B4-B308-A1DA3783FF3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B7A"/>
                </a:solidFill>
              </a:defRPr>
            </a:defPPr>
          </a:lstStyle>
          <a:p>
            <a:pPr>
              <a:defRPr sz="1200" b="0">
                <a:solidFill>
                  <a:srgbClr val="526B7A"/>
                </a:solidFill>
              </a:defRPr>
            </a:pPr>
            <a:r>
              <a:rPr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공식 통계 대조와 데이터 품질 점검을 통해 결과의 신뢰도</a:t>
            </a:r>
            <a:r>
              <a:rPr 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확보</a:t>
            </a:r>
            <a:endParaRPr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6C1C7A-D910-4B1B-A06F-9BF7C603D70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B0E8E-D53E-4B03-870F-6EC4D527FCE4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B6A1EE-257F-42EF-BBF9-C14BCF649BD6}"/>
              </a:ext>
            </a:extLst>
          </p:cNvPr>
          <p:cNvSpPr>
            <a:spLocks noGrp="1"/>
          </p:cNvSpPr>
          <p:nvPr/>
        </p:nvSpPr>
        <p:spPr>
          <a:xfrm>
            <a:off x="685800" y="2424112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8B8D"/>
                </a:solidFill>
              </a:defRPr>
            </a:defPPr>
          </a:lstStyle>
          <a:p>
            <a:pPr>
              <a:defRPr sz="1500" b="1">
                <a:solidFill>
                  <a:srgbClr val="0F8B8D"/>
                </a:solidFill>
              </a:defRPr>
            </a:pPr>
            <a:r>
              <a:rPr sz="1600" b="1">
                <a:solidFill>
                  <a:srgbClr val="0F8B8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결과 검증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A74D9B-0F66-4FE0-90F4-43985925D5C2}"/>
              </a:ext>
            </a:extLst>
          </p:cNvPr>
          <p:cNvSpPr>
            <a:spLocks noGrp="1"/>
          </p:cNvSpPr>
          <p:nvPr/>
        </p:nvSpPr>
        <p:spPr>
          <a:xfrm>
            <a:off x="685800" y="2995285"/>
            <a:ext cx="76200" cy="7620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6044FA-B20A-4B9A-8668-F847E58EF730}"/>
              </a:ext>
            </a:extLst>
          </p:cNvPr>
          <p:cNvSpPr>
            <a:spLocks noGrp="1"/>
          </p:cNvSpPr>
          <p:nvPr/>
        </p:nvSpPr>
        <p:spPr>
          <a:xfrm>
            <a:off x="876299" y="2881312"/>
            <a:ext cx="4819651" cy="409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TAAS의 동일 연도·지역 공식 통계와 사고 합계를 대조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3629E1-273F-4CDD-BCAA-97D08AA9D3DC}"/>
              </a:ext>
            </a:extLst>
          </p:cNvPr>
          <p:cNvSpPr>
            <a:spLocks noGrp="1"/>
          </p:cNvSpPr>
          <p:nvPr/>
        </p:nvSpPr>
        <p:spPr>
          <a:xfrm>
            <a:off x="685800" y="3604885"/>
            <a:ext cx="76200" cy="7620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0A4CD1-C775-4D17-857D-7D28E57D7A5E}"/>
              </a:ext>
            </a:extLst>
          </p:cNvPr>
          <p:cNvSpPr>
            <a:spLocks noGrp="1"/>
          </p:cNvSpPr>
          <p:nvPr/>
        </p:nvSpPr>
        <p:spPr>
          <a:xfrm>
            <a:off x="876300" y="3490912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연도·자치구별 결측률과 중복률을 표로 제시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14DD80-949E-4023-85A2-DC9319C22F74}"/>
              </a:ext>
            </a:extLst>
          </p:cNvPr>
          <p:cNvSpPr>
            <a:spLocks noGrp="1"/>
          </p:cNvSpPr>
          <p:nvPr/>
        </p:nvSpPr>
        <p:spPr>
          <a:xfrm>
            <a:off x="685800" y="4214485"/>
            <a:ext cx="76200" cy="76200"/>
          </a:xfrm>
          <a:prstGeom prst="rect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0FE565-0E3D-447B-9FBC-4A1764E2E439}"/>
              </a:ext>
            </a:extLst>
          </p:cNvPr>
          <p:cNvSpPr>
            <a:spLocks noGrp="1"/>
          </p:cNvSpPr>
          <p:nvPr/>
        </p:nvSpPr>
        <p:spPr>
          <a:xfrm>
            <a:off x="876300" y="4100512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상·하위 지역과 집중지점을 원자료·지도에서 재확인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8E8105-A436-44F3-984B-C9B3568FC2E1}"/>
              </a:ext>
            </a:extLst>
          </p:cNvPr>
          <p:cNvSpPr>
            <a:spLocks noGrp="1"/>
          </p:cNvSpPr>
          <p:nvPr/>
        </p:nvSpPr>
        <p:spPr>
          <a:xfrm>
            <a:off x="6496050" y="2424112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E4793B"/>
                </a:solidFill>
              </a:defRPr>
            </a:defPPr>
          </a:lstStyle>
          <a:p>
            <a:pPr>
              <a:defRPr sz="1500" b="1">
                <a:solidFill>
                  <a:srgbClr val="E4793B"/>
                </a:solidFill>
              </a:defRPr>
            </a:pPr>
            <a:r>
              <a:rPr sz="1600" b="1">
                <a:solidFill>
                  <a:srgbClr val="E4793B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해석의 한계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68D489-953F-4C17-8C42-EBAC278D5253}"/>
              </a:ext>
            </a:extLst>
          </p:cNvPr>
          <p:cNvSpPr>
            <a:spLocks noGrp="1"/>
          </p:cNvSpPr>
          <p:nvPr/>
        </p:nvSpPr>
        <p:spPr>
          <a:xfrm>
            <a:off x="6496050" y="2995285"/>
            <a:ext cx="76200" cy="76200"/>
          </a:xfrm>
          <a:prstGeom prst="rect">
            <a:avLst/>
          </a:prstGeom>
          <a:solidFill>
            <a:srgbClr val="E4793B"/>
          </a:solidFill>
          <a:ln w="0">
            <a:solidFill>
              <a:srgbClr val="E4793B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302D38-DFE2-429F-A8FD-91448429801C}"/>
              </a:ext>
            </a:extLst>
          </p:cNvPr>
          <p:cNvSpPr>
            <a:spLocks noGrp="1"/>
          </p:cNvSpPr>
          <p:nvPr/>
        </p:nvSpPr>
        <p:spPr>
          <a:xfrm>
            <a:off x="6686550" y="2881312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보행량 자료가 없어 실제 노출 위험을 완전히 보정하기 어려움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80BA93-0FF3-49CE-82FC-F55C91CE53F0}"/>
              </a:ext>
            </a:extLst>
          </p:cNvPr>
          <p:cNvSpPr>
            <a:spLocks noGrp="1"/>
          </p:cNvSpPr>
          <p:nvPr/>
        </p:nvSpPr>
        <p:spPr>
          <a:xfrm>
            <a:off x="6496050" y="3719185"/>
            <a:ext cx="76200" cy="76200"/>
          </a:xfrm>
          <a:prstGeom prst="rect">
            <a:avLst/>
          </a:prstGeom>
          <a:solidFill>
            <a:srgbClr val="E4793B"/>
          </a:solidFill>
          <a:ln w="0">
            <a:solidFill>
              <a:srgbClr val="E4793B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C31CE1-A27B-44FC-99E5-6C76F04098DD}"/>
              </a:ext>
            </a:extLst>
          </p:cNvPr>
          <p:cNvSpPr>
            <a:spLocks noGrp="1"/>
          </p:cNvSpPr>
          <p:nvPr/>
        </p:nvSpPr>
        <p:spPr>
          <a:xfrm>
            <a:off x="6686550" y="3605212"/>
            <a:ext cx="481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좌표 누락 여부에 따라 공간 분석 범위가 달라질 수 있음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FEDB65-6B1D-4263-B6CE-3CB0B8384D51}"/>
              </a:ext>
            </a:extLst>
          </p:cNvPr>
          <p:cNvSpPr>
            <a:spLocks noGrp="1"/>
          </p:cNvSpPr>
          <p:nvPr/>
        </p:nvSpPr>
        <p:spPr>
          <a:xfrm>
            <a:off x="6496050" y="4443085"/>
            <a:ext cx="76200" cy="76200"/>
          </a:xfrm>
          <a:prstGeom prst="rect">
            <a:avLst/>
          </a:prstGeom>
          <a:solidFill>
            <a:srgbClr val="E4793B"/>
          </a:solidFill>
          <a:ln w="0">
            <a:solidFill>
              <a:srgbClr val="E4793B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962A09-86A9-40F6-A23E-6580678C5FC5}"/>
              </a:ext>
            </a:extLst>
          </p:cNvPr>
          <p:cNvSpPr>
            <a:spLocks noGrp="1"/>
          </p:cNvSpPr>
          <p:nvPr/>
        </p:nvSpPr>
        <p:spPr>
          <a:xfrm>
            <a:off x="6686550" y="4329112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A43"/>
                </a:solidFill>
              </a:defRPr>
            </a:defPPr>
          </a:lstStyle>
          <a:p>
            <a:pPr>
              <a:defRPr sz="1425" b="0">
                <a:solidFill>
                  <a:srgbClr val="102A43"/>
                </a:solidFill>
              </a:defRPr>
            </a:pPr>
            <a:r>
              <a:rPr sz="1600" b="0">
                <a:solidFill>
                  <a:srgbClr val="102A43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표본이 적은 범주는 건수와 비율, 표본 수를 함께 제시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D03618A-DB4A-4FC2-9748-3A777141D46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668000" cy="533400"/>
          </a:xfrm>
          <a:prstGeom prst="roundRect">
            <a:avLst>
              <a:gd name="adj" fmla="val 21429"/>
            </a:avLst>
          </a:prstGeom>
          <a:solidFill>
            <a:srgbClr val="DCF3F0"/>
          </a:solidFill>
          <a:ln w="0">
            <a:solidFill>
              <a:srgbClr val="DCF3F0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CA879B-304C-107B-86CC-25DCAF9A1169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704850" cy="38100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55318-5672-28F0-5D87-9A2750014A1F}"/>
              </a:ext>
            </a:extLst>
          </p:cNvPr>
          <p:cNvSpPr txBox="1"/>
          <p:nvPr/>
        </p:nvSpPr>
        <p:spPr>
          <a:xfrm>
            <a:off x="838199" y="5467677"/>
            <a:ext cx="10024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0">
                <a:solidFill>
                  <a:srgbClr val="526B7A"/>
                </a:solidFill>
              </a:defRPr>
            </a:pP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결론은 “상대적으로 사고가 집중된 조건”까지 제시하고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원인이나 정책 효과를 단정하지 않음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456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BA583-4A78-C52C-9EEB-30B6E078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B385BD-C9E2-376C-82A5-D2BD46E9526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FFFFF"/>
                </a:solidFill>
              </a:defRPr>
            </a:defPPr>
          </a:lstStyle>
          <a:p>
            <a:pPr>
              <a:defRPr sz="2550" b="1">
                <a:solidFill>
                  <a:srgbClr val="FFFFFF"/>
                </a:solidFill>
              </a:defRPr>
            </a:pPr>
            <a:r>
              <a:rPr lang="ko-KR" altLang="en-US" sz="320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생성형 </a:t>
            </a:r>
            <a:r>
              <a:rPr lang="en-US" altLang="ko-KR" sz="320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AI </a:t>
            </a:r>
            <a:r>
              <a:rPr lang="ko-KR" altLang="en-US" sz="320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활용 계획</a:t>
            </a:r>
            <a:endParaRPr sz="3200" b="1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144C54-C208-393E-98E5-22F8874A5716}"/>
              </a:ext>
            </a:extLst>
          </p:cNvPr>
          <p:cNvSpPr>
            <a:spLocks noGrp="1"/>
          </p:cNvSpPr>
          <p:nvPr/>
        </p:nvSpPr>
        <p:spPr>
          <a:xfrm>
            <a:off x="685472" y="2335924"/>
            <a:ext cx="2054772" cy="1562100"/>
          </a:xfrm>
          <a:prstGeom prst="roundRect">
            <a:avLst>
              <a:gd name="adj" fmla="val 7317"/>
            </a:avLst>
          </a:prstGeom>
          <a:solidFill>
            <a:srgbClr val="163A59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F2248B-89DE-9663-8DBA-A1AA8BE6430B}"/>
              </a:ext>
            </a:extLst>
          </p:cNvPr>
          <p:cNvSpPr>
            <a:spLocks noGrp="1"/>
          </p:cNvSpPr>
          <p:nvPr/>
        </p:nvSpPr>
        <p:spPr>
          <a:xfrm>
            <a:off x="875972" y="2574049"/>
            <a:ext cx="155964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lang="ko-KR" altLang="en-US"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질문 구체화</a:t>
            </a:r>
            <a:endParaRPr sz="1600" b="1">
              <a:solidFill>
                <a:srgbClr val="64D0C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D1B30A-B725-3C81-EA24-4AA5FDE76021}"/>
              </a:ext>
            </a:extLst>
          </p:cNvPr>
          <p:cNvSpPr>
            <a:spLocks noGrp="1"/>
          </p:cNvSpPr>
          <p:nvPr/>
        </p:nvSpPr>
        <p:spPr>
          <a:xfrm>
            <a:off x="775420" y="3031249"/>
            <a:ext cx="1874876" cy="508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lang="ko-KR" altLang="en-US"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질문과 실제 데이터 칼럼 대조</a:t>
            </a:r>
            <a:endParaRPr sz="1600" b="0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FEA06F5-6B56-CFBB-FC39-E992FF502FEE}"/>
              </a:ext>
            </a:extLst>
          </p:cNvPr>
          <p:cNvSpPr>
            <a:spLocks noGrp="1"/>
          </p:cNvSpPr>
          <p:nvPr/>
        </p:nvSpPr>
        <p:spPr>
          <a:xfrm>
            <a:off x="2885049" y="2335924"/>
            <a:ext cx="2054772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D3E5D0-3962-34E4-8DC4-7E96F364295F}"/>
              </a:ext>
            </a:extLst>
          </p:cNvPr>
          <p:cNvSpPr>
            <a:spLocks noGrp="1"/>
          </p:cNvSpPr>
          <p:nvPr/>
        </p:nvSpPr>
        <p:spPr>
          <a:xfrm>
            <a:off x="3075549" y="2574049"/>
            <a:ext cx="155964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lang="ko-KR" altLang="en-US"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코드 작성</a:t>
            </a:r>
            <a:endParaRPr sz="1600" b="1">
              <a:solidFill>
                <a:srgbClr val="64D0C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81E085-2B7B-F905-69B9-9317A76CE6B5}"/>
              </a:ext>
            </a:extLst>
          </p:cNvPr>
          <p:cNvSpPr>
            <a:spLocks noGrp="1"/>
          </p:cNvSpPr>
          <p:nvPr/>
        </p:nvSpPr>
        <p:spPr>
          <a:xfrm>
            <a:off x="2999349" y="3035519"/>
            <a:ext cx="1856851" cy="5370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lang="ko-KR" altLang="en-US"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코드 실행 후 산출물 원본과 대조</a:t>
            </a:r>
            <a:endParaRPr sz="1600" b="0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2B4A861-DD9E-2126-5A3D-80BE24C73B96}"/>
              </a:ext>
            </a:extLst>
          </p:cNvPr>
          <p:cNvSpPr>
            <a:spLocks noGrp="1"/>
          </p:cNvSpPr>
          <p:nvPr/>
        </p:nvSpPr>
        <p:spPr>
          <a:xfrm>
            <a:off x="5084626" y="2335924"/>
            <a:ext cx="2054772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5EDBA4-4472-0E41-8F18-12D6400DDA99}"/>
              </a:ext>
            </a:extLst>
          </p:cNvPr>
          <p:cNvSpPr>
            <a:spLocks noGrp="1"/>
          </p:cNvSpPr>
          <p:nvPr/>
        </p:nvSpPr>
        <p:spPr>
          <a:xfrm>
            <a:off x="5275126" y="2574049"/>
            <a:ext cx="155964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lang="ko-KR" altLang="en-US"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오류 해결</a:t>
            </a:r>
            <a:endParaRPr sz="1600" b="1">
              <a:solidFill>
                <a:srgbClr val="64D0C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B451A3-FA60-8FA9-B27E-6BD4D6BB33DA}"/>
              </a:ext>
            </a:extLst>
          </p:cNvPr>
          <p:cNvSpPr>
            <a:spLocks noGrp="1"/>
          </p:cNvSpPr>
          <p:nvPr/>
        </p:nvSpPr>
        <p:spPr>
          <a:xfrm>
            <a:off x="5270236" y="3035519"/>
            <a:ext cx="1673946" cy="4726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lang="ko-KR" altLang="en-US"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수정 전후 결측률 비교</a:t>
            </a:r>
            <a:endParaRPr sz="1600" b="0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14C53A-4E4E-7E2C-56E5-983BEB5A3650}"/>
              </a:ext>
            </a:extLst>
          </p:cNvPr>
          <p:cNvSpPr>
            <a:spLocks noGrp="1"/>
          </p:cNvSpPr>
          <p:nvPr/>
        </p:nvSpPr>
        <p:spPr>
          <a:xfrm>
            <a:off x="7279400" y="2335924"/>
            <a:ext cx="2054772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261C15-2186-872B-6805-7A8FBE6FBA46}"/>
              </a:ext>
            </a:extLst>
          </p:cNvPr>
          <p:cNvSpPr>
            <a:spLocks noGrp="1"/>
          </p:cNvSpPr>
          <p:nvPr/>
        </p:nvSpPr>
        <p:spPr>
          <a:xfrm>
            <a:off x="7469900" y="2574049"/>
            <a:ext cx="155964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lang="ko-KR" altLang="en-US"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해석 검토</a:t>
            </a:r>
            <a:endParaRPr sz="1600" b="1">
              <a:solidFill>
                <a:srgbClr val="64D0C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D9A728-B52D-CF5A-0888-0A036E6CCF28}"/>
              </a:ext>
            </a:extLst>
          </p:cNvPr>
          <p:cNvSpPr>
            <a:spLocks noGrp="1"/>
          </p:cNvSpPr>
          <p:nvPr/>
        </p:nvSpPr>
        <p:spPr>
          <a:xfrm>
            <a:off x="7469900" y="3034862"/>
            <a:ext cx="1407400" cy="509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lang="ko-KR" altLang="en-US"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과도한 일반화 여부 점검</a:t>
            </a:r>
            <a:endParaRPr sz="1600" b="0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B67B1DB-7E98-A3EA-AC6F-0AFDF87EBB00}"/>
              </a:ext>
            </a:extLst>
          </p:cNvPr>
          <p:cNvSpPr>
            <a:spLocks noGrp="1"/>
          </p:cNvSpPr>
          <p:nvPr/>
        </p:nvSpPr>
        <p:spPr>
          <a:xfrm>
            <a:off x="9474174" y="2335924"/>
            <a:ext cx="2054772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533D4C-F734-E2D2-2168-555D27680016}"/>
              </a:ext>
            </a:extLst>
          </p:cNvPr>
          <p:cNvSpPr>
            <a:spLocks noGrp="1"/>
          </p:cNvSpPr>
          <p:nvPr/>
        </p:nvSpPr>
        <p:spPr>
          <a:xfrm>
            <a:off x="9664674" y="2574049"/>
            <a:ext cx="155964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lang="ko-KR" altLang="en-US"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보고서 작성</a:t>
            </a:r>
            <a:endParaRPr sz="1600" b="1">
              <a:solidFill>
                <a:srgbClr val="64D0CD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2F499F-44CB-2B30-8E54-6BA5B54856BE}"/>
              </a:ext>
            </a:extLst>
          </p:cNvPr>
          <p:cNvSpPr>
            <a:spLocks noGrp="1"/>
          </p:cNvSpPr>
          <p:nvPr/>
        </p:nvSpPr>
        <p:spPr>
          <a:xfrm>
            <a:off x="9664674" y="3040444"/>
            <a:ext cx="1671975" cy="4769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lang="ko-KR" altLang="en-US"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설명 초안 작성 후 재확인</a:t>
            </a:r>
            <a:endParaRPr sz="1600" b="0">
              <a:solidFill>
                <a:srgbClr val="FFFFFF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77D91A2-68D7-A7B0-47E7-18D13875B36F}"/>
              </a:ext>
            </a:extLst>
          </p:cNvPr>
          <p:cNvSpPr>
            <a:spLocks noGrp="1"/>
          </p:cNvSpPr>
          <p:nvPr/>
        </p:nvSpPr>
        <p:spPr>
          <a:xfrm>
            <a:off x="685472" y="4930337"/>
            <a:ext cx="10843474" cy="533400"/>
          </a:xfrm>
          <a:prstGeom prst="roundRect">
            <a:avLst>
              <a:gd name="adj" fmla="val 21429"/>
            </a:avLst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DCF3F0"/>
            </a:solidFill>
            <a:prstDash val="solid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D6A04-9E5D-1DEB-085E-5EBAC6E38814}"/>
              </a:ext>
            </a:extLst>
          </p:cNvPr>
          <p:cNvSpPr txBox="1"/>
          <p:nvPr/>
        </p:nvSpPr>
        <p:spPr>
          <a:xfrm>
            <a:off x="838528" y="5043526"/>
            <a:ext cx="10024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0">
                <a:solidFill>
                  <a:srgbClr val="526B7A"/>
                </a:solidFill>
              </a:defRPr>
            </a:pPr>
            <a:r>
              <a:rPr lang="ko-KR" altLang="en-US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생성형 </a:t>
            </a:r>
            <a:r>
              <a:rPr lang="en-US" altLang="ko-KR" sz="1600" b="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AI</a:t>
            </a:r>
            <a:r>
              <a:rPr lang="ko-KR" altLang="en-US" sz="160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의 코드 및 해석을 그대로 제출하지 않고</a:t>
            </a:r>
            <a:r>
              <a:rPr lang="en-US" altLang="ko-KR" sz="160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600">
                <a:solidFill>
                  <a:srgbClr val="526B7A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실행 결과와 원자료를 기준으로 직접 검증할 것</a:t>
            </a:r>
            <a:endParaRPr lang="en-US" altLang="ko-KR" sz="1600" b="0">
              <a:solidFill>
                <a:srgbClr val="526B7A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A7E333-E2C8-D8D5-D0AE-E07ACF91F06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sz="825" b="0"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서울시 보행자 교통사고 프로젝트 계획서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918BEBE-38AD-2BA8-BF34-6456CF2395F9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0">
                <a:solidFill>
                  <a:srgbClr val="526B7A"/>
                </a:solidFill>
              </a:defRPr>
            </a:defPPr>
          </a:lstStyle>
          <a:p>
            <a:pPr>
              <a:defRPr sz="825" b="0">
                <a:solidFill>
                  <a:srgbClr val="526B7A"/>
                </a:solidFill>
              </a:defRPr>
            </a:pPr>
            <a:r>
              <a:rPr lang="en-US" sz="825" b="0"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8</a:t>
            </a:r>
            <a:endParaRPr sz="825" b="0"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49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04E753-332B-48C2-8FEC-5D77E070805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FFFFF"/>
                </a:solidFill>
              </a:defRPr>
            </a:defPPr>
          </a:lstStyle>
          <a:p>
            <a:pPr>
              <a:defRPr sz="255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향후 진행 계획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E70CE7-7681-4412-8E25-3AC8127436E5}"/>
              </a:ext>
            </a:extLst>
          </p:cNvPr>
          <p:cNvSpPr>
            <a:spLocks noGrp="1"/>
          </p:cNvSpPr>
          <p:nvPr/>
        </p:nvSpPr>
        <p:spPr>
          <a:xfrm>
            <a:off x="685800" y="1366838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C8D6E2"/>
                </a:solidFill>
              </a:defRPr>
            </a:defPPr>
          </a:lstStyle>
          <a:p>
            <a:pPr>
              <a:defRPr sz="1275" b="0">
                <a:solidFill>
                  <a:srgbClr val="C8D6E2"/>
                </a:solidFill>
              </a:defRPr>
            </a:pPr>
            <a:r>
              <a:rPr sz="1600" b="0">
                <a:solidFill>
                  <a:srgbClr val="C8D6E2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데이터 확보부터 결과물 작성까지 6주 일정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0F22D7-F3D3-44DD-B8D9-C6FCE1829C26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63A59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4D53AF-1F62-4491-9643-E77EB4AEAB7F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1주차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0D6EBE-56D5-4BD5-8C8E-69D5101C5A7C}"/>
              </a:ext>
            </a:extLst>
          </p:cNvPr>
          <p:cNvSpPr>
            <a:spLocks noGrp="1"/>
          </p:cNvSpPr>
          <p:nvPr/>
        </p:nvSpPr>
        <p:spPr>
          <a:xfrm>
            <a:off x="714375" y="3072962"/>
            <a:ext cx="1524000" cy="5084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시험 다운로드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컬럼·결측 확인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042C83-320F-4F95-AA02-94067D7FE015}"/>
              </a:ext>
            </a:extLst>
          </p:cNvPr>
          <p:cNvSpPr>
            <a:spLocks noGrp="1"/>
          </p:cNvSpPr>
          <p:nvPr/>
        </p:nvSpPr>
        <p:spPr>
          <a:xfrm>
            <a:off x="249555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032429-830C-41F9-9C70-14C7E6902A6A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2주차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1B33CE-136F-4912-879E-A4766348A9E7}"/>
              </a:ext>
            </a:extLst>
          </p:cNvPr>
          <p:cNvSpPr>
            <a:spLocks noGrp="1"/>
          </p:cNvSpPr>
          <p:nvPr/>
        </p:nvSpPr>
        <p:spPr>
          <a:xfrm>
            <a:off x="2533650" y="3076575"/>
            <a:ext cx="1581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3개 연도 확보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데이터 사전 작성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9F2CDD-B617-45CB-B647-145311211311}"/>
              </a:ext>
            </a:extLst>
          </p:cNvPr>
          <p:cNvSpPr>
            <a:spLocks noGrp="1"/>
          </p:cNvSpPr>
          <p:nvPr/>
        </p:nvSpPr>
        <p:spPr>
          <a:xfrm>
            <a:off x="430530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2DED7B-7372-4514-8FEE-42A80B0F611D}"/>
              </a:ext>
            </a:extLst>
          </p:cNvPr>
          <p:cNvSpPr>
            <a:spLocks noGrp="1"/>
          </p:cNvSpPr>
          <p:nvPr/>
        </p:nvSpPr>
        <p:spPr>
          <a:xfrm>
            <a:off x="449580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3주차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639FCE-CCBC-4D95-AA04-21D997A0B54C}"/>
              </a:ext>
            </a:extLst>
          </p:cNvPr>
          <p:cNvSpPr>
            <a:spLocks noGrp="1"/>
          </p:cNvSpPr>
          <p:nvPr/>
        </p:nvSpPr>
        <p:spPr>
          <a:xfrm>
            <a:off x="4381500" y="3076575"/>
            <a:ext cx="1428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전처리·기초 EDA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3F82783-066D-45C9-9DA9-3512F7CD472B}"/>
              </a:ext>
            </a:extLst>
          </p:cNvPr>
          <p:cNvSpPr>
            <a:spLocks noGrp="1"/>
          </p:cNvSpPr>
          <p:nvPr/>
        </p:nvSpPr>
        <p:spPr>
          <a:xfrm>
            <a:off x="611505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007626-0FB5-4674-BDB2-541B6E64CD6F}"/>
              </a:ext>
            </a:extLst>
          </p:cNvPr>
          <p:cNvSpPr>
            <a:spLocks noGrp="1"/>
          </p:cNvSpPr>
          <p:nvPr/>
        </p:nvSpPr>
        <p:spPr>
          <a:xfrm>
            <a:off x="630555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4주차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7AF0DD-F4C6-4196-B507-703E36F518FD}"/>
              </a:ext>
            </a:extLst>
          </p:cNvPr>
          <p:cNvSpPr>
            <a:spLocks noGrp="1"/>
          </p:cNvSpPr>
          <p:nvPr/>
        </p:nvSpPr>
        <p:spPr>
          <a:xfrm>
            <a:off x="6305550" y="3072962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환경 비교·공간 탐색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428998E-801A-4DFD-9752-08F44CF434ED}"/>
              </a:ext>
            </a:extLst>
          </p:cNvPr>
          <p:cNvSpPr>
            <a:spLocks noGrp="1"/>
          </p:cNvSpPr>
          <p:nvPr/>
        </p:nvSpPr>
        <p:spPr>
          <a:xfrm>
            <a:off x="792480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F9C1D2-4E63-4BB0-8AFC-1547A90270A3}"/>
              </a:ext>
            </a:extLst>
          </p:cNvPr>
          <p:cNvSpPr>
            <a:spLocks noGrp="1"/>
          </p:cNvSpPr>
          <p:nvPr/>
        </p:nvSpPr>
        <p:spPr>
          <a:xfrm>
            <a:off x="811530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5주차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23EFDF-49C4-42E5-8245-B46A8871A6F7}"/>
              </a:ext>
            </a:extLst>
          </p:cNvPr>
          <p:cNvSpPr>
            <a:spLocks noGrp="1"/>
          </p:cNvSpPr>
          <p:nvPr/>
        </p:nvSpPr>
        <p:spPr>
          <a:xfrm>
            <a:off x="8002971" y="3105150"/>
            <a:ext cx="1581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검증·인사이트 정리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463A40-181E-45BE-94AD-464AC694CF84}"/>
              </a:ext>
            </a:extLst>
          </p:cNvPr>
          <p:cNvSpPr>
            <a:spLocks noGrp="1"/>
          </p:cNvSpPr>
          <p:nvPr/>
        </p:nvSpPr>
        <p:spPr>
          <a:xfrm>
            <a:off x="9734550" y="2409825"/>
            <a:ext cx="1581150" cy="1562100"/>
          </a:xfrm>
          <a:prstGeom prst="roundRect">
            <a:avLst>
              <a:gd name="adj" fmla="val 7317"/>
            </a:avLst>
          </a:prstGeom>
          <a:solidFill>
            <a:srgbClr val="112B45"/>
          </a:solidFill>
          <a:ln w="9525">
            <a:solidFill>
              <a:srgbClr val="2A4C66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3B26E2-B6EB-4D63-A845-2E6CB3DE589C}"/>
              </a:ext>
            </a:extLst>
          </p:cNvPr>
          <p:cNvSpPr>
            <a:spLocks noGrp="1"/>
          </p:cNvSpPr>
          <p:nvPr/>
        </p:nvSpPr>
        <p:spPr>
          <a:xfrm>
            <a:off x="9925050" y="26479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6주차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3E07B1-40BD-4A84-946A-EBE95A4344F6}"/>
              </a:ext>
            </a:extLst>
          </p:cNvPr>
          <p:cNvSpPr>
            <a:spLocks noGrp="1"/>
          </p:cNvSpPr>
          <p:nvPr/>
        </p:nvSpPr>
        <p:spPr>
          <a:xfrm>
            <a:off x="9829800" y="3072305"/>
            <a:ext cx="1390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Notebook·보고서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결과 화면 정리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BFB2B5-42CC-416F-97CB-054852A7B412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64D0CD"/>
                </a:solidFill>
              </a:defRPr>
            </a:defPPr>
          </a:lstStyle>
          <a:p>
            <a:pPr>
              <a:defRPr sz="1350" b="1">
                <a:solidFill>
                  <a:srgbClr val="64D0CD"/>
                </a:solidFill>
              </a:defRPr>
            </a:pPr>
            <a:r>
              <a:rPr sz="1600" b="1">
                <a:solidFill>
                  <a:srgbClr val="64D0CD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최종 산출물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E5C771-1C07-4381-8113-50706B285BEF}"/>
              </a:ext>
            </a:extLst>
          </p:cNvPr>
          <p:cNvSpPr>
            <a:spLocks noGrp="1"/>
          </p:cNvSpPr>
          <p:nvPr/>
        </p:nvSpPr>
        <p:spPr>
          <a:xfrm>
            <a:off x="685799" y="5257800"/>
            <a:ext cx="9940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FFFFFF"/>
                </a:solidFill>
              </a:defRPr>
            </a:defPPr>
          </a:lstStyle>
          <a:p>
            <a:pPr>
              <a:defRPr sz="18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분석 Notebook  ·  시각화 중심 보고서  ·  Streamlit 결과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B2005B-7BA9-4734-AECF-3BB1FC5B52C7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C8D6E2"/>
                </a:solidFill>
              </a:defRPr>
            </a:defPPr>
          </a:lstStyle>
          <a:p>
            <a:pPr>
              <a:defRPr sz="1275" b="0">
                <a:solidFill>
                  <a:srgbClr val="C8D6E2"/>
                </a:solidFill>
              </a:defRPr>
            </a:pPr>
            <a:r>
              <a:rPr sz="1275" b="0">
                <a:solidFill>
                  <a:srgbClr val="C8D6E2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400922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742</Words>
  <Application>Microsoft Office PowerPoint</Application>
  <DocSecurity>0</DocSecurity>
  <PresentationFormat>와이드스크린</PresentationFormat>
  <Paragraphs>165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Aptos</vt:lpstr>
      <vt:lpstr>a고딕15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해린 전</cp:lastModifiedBy>
  <cp:revision>3</cp:revision>
  <dcterms:created xsi:type="dcterms:W3CDTF">2026-10-08T13:51:53Z</dcterms:created>
  <dcterms:modified xsi:type="dcterms:W3CDTF">2026-10-09T12:26:47Z</dcterms:modified>
</cp:coreProperties>
</file>